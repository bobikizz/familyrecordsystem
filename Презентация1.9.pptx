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94C52496-3BEC-8CDC-4B52-3F4CF7C739E2}">
          <p14:sldIdLst>
            <p14:sldId id="256"/>
            <p14:sldId id="257"/>
            <p14:sldId id="258"/>
          </p14:sldIdLst>
        </p14:section>
        <p14:section name="Проектирование" id="{B6DE79C1-C5A1-CBD6-18A3-4C685607BA52}">
          <p14:sldIdLst>
            <p14:sldId id="259"/>
            <p14:sldId id="260"/>
            <p14:sldId id="261"/>
            <p14:sldId id="262"/>
          </p14:sldIdLst>
        </p14:section>
        <p14:section name="Реализация" id="{624FD81C-E60B-8B56-5881-BB81A8F5E2F2}">
          <p14:sldIdLst>
            <p14:sldId id="263"/>
            <p14:sldId id="264"/>
          </p14:sldIdLst>
        </p14:section>
        <p14:section name="Итоги" id="{3CA0BE83-04DD-019C-300B-01AEA2308070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9322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Представьте команду и тему. Приложение для учёта семейных доходов и расходов: WinForms, .NET 8, SQLite.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Назовите роли и покажите вклад каждого участника по истории Git: коммиты и pull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 опишите проблему, затем цель. Цифры внизу: четыре проекта в решении, четыре таблицы, двадцать пять автотестов.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Расскажите про актора и девять вариантов использования. Include: проверка данных при добавлении и правке. Extend: показ превышения лимита.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таблицы. Внешние ключи защищают данные: нельзя удалить участника или категорию, по которым есть операции.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Слои: UI (WinForms), Data (SQLite и репозиторий), Core (модели, расчёты, проверки). Зависимости идут только вниз.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Пройдите по шагам сверху вниз: открытие формы, загрузка справочников, проверка, сохранение в SQLite, обновление таблицы.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Сценарий демо: добавить расход на продукты, добавить зарплату, отфильтровать по участнику, задать лимит на продукты, показать превышение в окне «Бюджеты», открыть годовой отчёт.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Покажите окна Visual Studio: Solution Explorer, Git Changes, Test Explorer. В GitHub или Azure DevOps откройте историю коммитов и закрытые pull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Расскажите честно: что мешало и как решили. Добавьте проблемы из вашей работы с Git, например конфликты слияния.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Назовите, что не успели и что стоило бы сделать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Покажите ссылку на репозиторий и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640080" y="822960"/>
            <a:ext cx="60350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56032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obikizz/FamilyRecordSystem.git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640080" y="822960"/>
            <a:ext cx="6035040" cy="1554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Учёт расходов семьи</a:t>
            </a:r>
            <a:endParaRPr lang="en-US" sz="4400" dirty="0"/>
          </a:p>
        </p:txBody>
      </p:sp>
      <p:sp>
        <p:nvSpPr>
          <p:cNvPr id="3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560320"/>
            <a:ext cx="6035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chemeClr val="bg2"/>
                </a:solidFill>
              </a:rPr>
              <a:t>Учебный проект: приложение для семейного бюджета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4904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Группа исп 31-9  ·  21.10.2026</a:t>
            </a:r>
            <a:endParaRPr lang="en-US" sz="1600" dirty="0"/>
          </a:p>
        </p:txBody>
      </p:sp>
      <p:sp>
        <p:nvSpPr>
          <p:cNvPr id="5" name="Монета"/>
          <p:cNvSpPr txBox="1"/>
          <p:nvPr/>
        </p:nvSpPr>
        <p:spPr>
          <a:xfrm>
            <a:off x="6858000" y="1371600"/>
            <a:ext cx="1828800" cy="1828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chemeClr val="tx2"/>
                </a:solidFill>
              </a:rPr>
              <a:t>₽</a:t>
            </a:r>
            <a:endParaRPr lang="en-US" sz="8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Команда и роли</a:t>
            </a:r>
            <a:endParaRPr lang="en-US" sz="3600" dirty="0"/>
          </a:p>
        </p:txBody>
      </p:sp>
      <p:sp>
        <p:nvSpPr>
          <p:cNvPr id="3" name="Карточка 1"/>
          <p:cNvSpPr/>
          <p:nvPr/>
        </p:nvSpPr>
        <p:spPr>
          <a:xfrm>
            <a:off x="457200" y="1280160"/>
            <a:ext cx="192024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Номер 1"/>
          <p:cNvSpPr txBox="1"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Тимлид / разработчик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746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Ильиных Илья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1752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Организация работы команды и разработка приложения</a:t>
            </a:r>
            <a:endParaRPr lang="en-US" sz="1400" dirty="0"/>
          </a:p>
        </p:txBody>
      </p:sp>
      <p:sp>
        <p:nvSpPr>
          <p:cNvPr id="8" name="Карточка 2"/>
          <p:cNvSpPr/>
          <p:nvPr/>
        </p:nvSpPr>
        <p:spPr>
          <a:xfrm>
            <a:off x="2560320" y="1280160"/>
            <a:ext cx="192024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Номер 2"/>
          <p:cNvSpPr txBox="1"/>
          <p:nvPr/>
        </p:nvSpPr>
        <p:spPr>
          <a:xfrm>
            <a:off x="2743200" y="1463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022263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b="1" dirty="0" err="1">
                <a:solidFill>
                  <a:schemeClr val="tx2"/>
                </a:solidFill>
              </a:rPr>
              <a:t>Бэкэнд</a:t>
            </a:r>
            <a:r>
              <a:rPr lang="ru-RU" b="1" dirty="0">
                <a:solidFill>
                  <a:schemeClr val="tx2"/>
                </a:solidFill>
              </a:rPr>
              <a:t> разработчик / тестировщик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8803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1400" dirty="0">
                <a:solidFill>
                  <a:schemeClr val="accent6"/>
                </a:solidFill>
              </a:rPr>
              <a:t>Галичанин Денис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320040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Работа с GitHub и контроль изменений проекта</a:t>
            </a:r>
            <a:endParaRPr lang="en-US" sz="1400" dirty="0"/>
          </a:p>
        </p:txBody>
      </p:sp>
      <p:sp>
        <p:nvSpPr>
          <p:cNvPr id="13" name="Карточка 3"/>
          <p:cNvSpPr/>
          <p:nvPr/>
        </p:nvSpPr>
        <p:spPr>
          <a:xfrm>
            <a:off x="4663440" y="1280160"/>
            <a:ext cx="192024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Номер 3"/>
          <p:cNvSpPr txBox="1"/>
          <p:nvPr/>
        </p:nvSpPr>
        <p:spPr>
          <a:xfrm>
            <a:off x="4846320" y="1463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20193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b="1" dirty="0">
                <a:solidFill>
                  <a:schemeClr val="tx2"/>
                </a:solidFill>
              </a:rPr>
              <a:t>Создание диаграмм в </a:t>
            </a:r>
            <a:r>
              <a:rPr lang="en-US" b="1" dirty="0">
                <a:solidFill>
                  <a:schemeClr val="tx2"/>
                </a:solidFill>
              </a:rPr>
              <a:t>draw.io </a:t>
            </a:r>
            <a:r>
              <a:rPr lang="ru-RU" b="1" dirty="0">
                <a:solidFill>
                  <a:schemeClr val="tx2"/>
                </a:solidFill>
              </a:rPr>
              <a:t>и документация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128857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1400" dirty="0">
                <a:solidFill>
                  <a:schemeClr val="accent6"/>
                </a:solidFill>
              </a:rPr>
              <a:t>Столбов Лев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36042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Создание диаграмм и помощь с документами</a:t>
            </a:r>
            <a:endParaRPr lang="en-US" sz="1400" dirty="0"/>
          </a:p>
        </p:txBody>
      </p:sp>
      <p:sp>
        <p:nvSpPr>
          <p:cNvPr id="18" name="Карточка 4"/>
          <p:cNvSpPr/>
          <p:nvPr/>
        </p:nvSpPr>
        <p:spPr>
          <a:xfrm>
            <a:off x="6766560" y="1280160"/>
            <a:ext cx="192024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Номер 4"/>
          <p:cNvSpPr txBox="1"/>
          <p:nvPr/>
        </p:nvSpPr>
        <p:spPr>
          <a:xfrm>
            <a:off x="6949440" y="1463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2148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 err="1">
                <a:solidFill>
                  <a:schemeClr val="tx2"/>
                </a:solidFill>
              </a:rPr>
              <a:t>Документация</a:t>
            </a:r>
            <a:r>
              <a:rPr lang="en-US" sz="1800" b="1" dirty="0">
                <a:solidFill>
                  <a:schemeClr val="tx2"/>
                </a:solidFill>
              </a:rPr>
              <a:t> </a:t>
            </a:r>
            <a:r>
              <a:rPr lang="ru-RU" sz="1800" b="1" dirty="0">
                <a:solidFill>
                  <a:schemeClr val="tx2"/>
                </a:solidFill>
              </a:rPr>
              <a:t>и</a:t>
            </a:r>
            <a:r>
              <a:rPr lang="en-US" sz="1800" b="1" dirty="0">
                <a:solidFill>
                  <a:schemeClr val="tx2"/>
                </a:solidFill>
              </a:rPr>
              <a:t> </a:t>
            </a:r>
            <a:r>
              <a:rPr lang="en-US" sz="1800" b="1" dirty="0" err="1">
                <a:solidFill>
                  <a:schemeClr val="tx2"/>
                </a:solidFill>
              </a:rPr>
              <a:t>презентаци</a:t>
            </a:r>
            <a:r>
              <a:rPr lang="ru-RU" sz="1800" b="1" dirty="0">
                <a:solidFill>
                  <a:schemeClr val="tx2"/>
                </a:solidFill>
              </a:rPr>
              <a:t>и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1400" dirty="0">
                <a:solidFill>
                  <a:schemeClr val="accent6"/>
                </a:solidFill>
              </a:rPr>
              <a:t>Русских Роман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01752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Подготовка документации и презентации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Проблема и цель</a:t>
            </a:r>
            <a:endParaRPr lang="en-US" sz="3600" dirty="0"/>
          </a:p>
        </p:txBody>
      </p:sp>
      <p:sp>
        <p:nvSpPr>
          <p:cNvPr id="3" name="Проблема"/>
          <p:cNvSpPr/>
          <p:nvPr/>
        </p:nvSpPr>
        <p:spPr>
          <a:xfrm>
            <a:off x="457200" y="1188720"/>
            <a:ext cx="402336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Проблема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Семейные расходы легко забыть или записать неправильно. Поэтому трудно понять, на что уходит больше всего денег.</a:t>
            </a:r>
            <a:endParaRPr lang="en-US" sz="1400" dirty="0"/>
          </a:p>
        </p:txBody>
      </p:sp>
      <p:sp>
        <p:nvSpPr>
          <p:cNvPr id="6" name="Цель"/>
          <p:cNvSpPr/>
          <p:nvPr/>
        </p:nvSpPr>
        <p:spPr>
          <a:xfrm>
            <a:off x="4663440" y="1188720"/>
            <a:ext cx="402336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489204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Цель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7830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Мы разработали приложение, в котором можно записывать доходы и расходы, задавать лимиты и смотреть отчёты.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3117427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Access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4013203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dirty="0"/>
              <a:t>База данных</a:t>
            </a:r>
            <a:endParaRPr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3117427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 .NET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5266267" y="40115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dirty="0"/>
              <a:t>Framework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Варианты использования</a:t>
            </a:r>
            <a:endParaRPr lang="en-US" sz="3600" dirty="0"/>
          </a:p>
        </p:txBody>
      </p:sp>
      <p:sp>
        <p:nvSpPr>
          <p:cNvPr id="4" name="Пояснение"/>
          <p:cNvSpPr/>
          <p:nvPr/>
        </p:nvSpPr>
        <p:spPr>
          <a:xfrm>
            <a:off x="5852160" y="1280160"/>
            <a:ext cx="2834640" cy="310896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2"/>
          <p:cNvSpPr txBox="1"/>
          <p:nvPr/>
        </p:nvSpPr>
        <p:spPr>
          <a:xfrm>
            <a:off x="6035040" y="14630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Пользователь приложения — член семьи.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219456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Основные сценарии: операции, справочники, лимиты, отчёты и </a:t>
            </a:r>
            <a:r>
              <a:rPr lang="en-US" sz="1400" dirty="0" err="1">
                <a:solidFill>
                  <a:schemeClr val="tx1"/>
                </a:solidFill>
              </a:rPr>
              <a:t>экспорт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4D71D78-7490-4F07-B1F3-351713905B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64" y="1506991"/>
            <a:ext cx="4417758" cy="212951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Модель данных (ER)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В базе Access хранятся записи о доходах и расходах, участниках, категориях и лимитах. Связи между таблицами помогают хранить данные согласованно.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FE45707-538B-44F4-AC84-2EB9AD924B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0236" y="1423523"/>
            <a:ext cx="5278984" cy="229645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Архитектура и классы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Приложение состоит из интерфейса, обработки данных и базы Microsoft Access. Такое разделение помогает проще разбираться в программе и вносить изменения.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1B0B942-A1F2-4993-8802-8FD0BE15D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975" y="1038225"/>
            <a:ext cx="5734050" cy="30670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Добавление операции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При добавлении записи пользователь заполняет форму. Программа проверяет данные, сохраняет запись в Access и показывает её в общем списке.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385139E-D526-4208-A07A-052B7E409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758" y="1144635"/>
            <a:ext cx="4096778" cy="3015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47227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Живая демонстрация</a:t>
            </a:r>
            <a:endParaRPr lang="en-US" sz="3600" dirty="0"/>
          </a:p>
        </p:txBody>
      </p:sp>
      <p:sp>
        <p:nvSpPr>
          <p:cNvPr id="3" name="Шаг 1"/>
          <p:cNvSpPr txBox="1"/>
          <p:nvPr/>
        </p:nvSpPr>
        <p:spPr>
          <a:xfrm>
            <a:off x="1023621" y="17373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03581" y="25603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ru-RU" sz="1400" b="1" dirty="0">
                <a:solidFill>
                  <a:schemeClr val="tx2"/>
                </a:solidFill>
              </a:rPr>
              <a:t>Авторизация</a:t>
            </a:r>
            <a:endParaRPr lang="en-US" sz="1400" dirty="0"/>
          </a:p>
        </p:txBody>
      </p:sp>
      <p:sp>
        <p:nvSpPr>
          <p:cNvPr id="5" name="Шаг 2"/>
          <p:cNvSpPr txBox="1"/>
          <p:nvPr/>
        </p:nvSpPr>
        <p:spPr>
          <a:xfrm>
            <a:off x="3952241" y="1737359"/>
            <a:ext cx="640080" cy="6096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/>
              <a:t>3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632201" y="2569027"/>
            <a:ext cx="1280160" cy="783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Изменить запись</a:t>
            </a:r>
            <a:endParaRPr lang="en-US" sz="1400" dirty="0"/>
          </a:p>
        </p:txBody>
      </p:sp>
      <p:sp>
        <p:nvSpPr>
          <p:cNvPr id="7" name="Шаг 3"/>
          <p:cNvSpPr txBox="1"/>
          <p:nvPr/>
        </p:nvSpPr>
        <p:spPr>
          <a:xfrm>
            <a:off x="5576147" y="1737359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/>
              <a:t>4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256107" y="2560319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b="1" dirty="0" err="1">
                <a:solidFill>
                  <a:schemeClr val="tx2"/>
                </a:solidFill>
              </a:rPr>
              <a:t>Задать</a:t>
            </a:r>
            <a:r>
              <a:rPr lang="ru-RU" sz="1400" b="1" dirty="0">
                <a:solidFill>
                  <a:schemeClr val="tx2"/>
                </a:solidFill>
              </a:rPr>
              <a:t>  временной</a:t>
            </a:r>
            <a:r>
              <a:rPr lang="en-US" sz="1400" b="1" dirty="0">
                <a:solidFill>
                  <a:schemeClr val="tx2"/>
                </a:solidFill>
              </a:rPr>
              <a:t> </a:t>
            </a:r>
            <a:r>
              <a:rPr lang="en-US" sz="1400" b="1" dirty="0" err="1">
                <a:solidFill>
                  <a:schemeClr val="tx2"/>
                </a:solidFill>
              </a:rPr>
              <a:t>лимит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9" name="Шаг 4"/>
          <p:cNvSpPr txBox="1"/>
          <p:nvPr/>
        </p:nvSpPr>
        <p:spPr>
          <a:xfrm>
            <a:off x="7073053" y="17373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/>
              <a:t>5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53013" y="25603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chemeClr val="tx2"/>
                </a:solidFill>
              </a:rPr>
              <a:t>Показать</a:t>
            </a:r>
            <a:r>
              <a:rPr lang="ru-RU" sz="1400" b="1" dirty="0">
                <a:solidFill>
                  <a:schemeClr val="tx2"/>
                </a:solidFill>
              </a:rPr>
              <a:t> </a:t>
            </a:r>
            <a:r>
              <a:rPr lang="en-US" sz="1400" b="1" dirty="0">
                <a:solidFill>
                  <a:schemeClr val="tx2"/>
                </a:solidFill>
              </a:rPr>
              <a:t> </a:t>
            </a:r>
            <a:r>
              <a:rPr lang="ru-RU" sz="1400" b="1" dirty="0">
                <a:solidFill>
                  <a:schemeClr val="tx2"/>
                </a:solidFill>
              </a:rPr>
              <a:t>траты 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5603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25603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5" name="Подсказка"/>
          <p:cNvSpPr/>
          <p:nvPr/>
        </p:nvSpPr>
        <p:spPr>
          <a:xfrm>
            <a:off x="457200" y="3657600"/>
            <a:ext cx="822960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731520" y="3794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Во время защиты покажем приложение в работе: добавим записи, применим фильтр и откроем отчёт. Лучше демонстрировать реальные действия, а не только скриншоты.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18" name="Шаг 1">
            <a:extLst>
              <a:ext uri="{FF2B5EF4-FFF2-40B4-BE49-F238E27FC236}">
                <a16:creationId xmlns:a16="http://schemas.microsoft.com/office/drawing/2014/main" id="{195F42C1-27C1-43AA-8E3D-BB313E19B656}"/>
              </a:ext>
            </a:extLst>
          </p:cNvPr>
          <p:cNvSpPr txBox="1"/>
          <p:nvPr/>
        </p:nvSpPr>
        <p:spPr>
          <a:xfrm>
            <a:off x="2475654" y="17373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/>
              <a:t>2</a:t>
            </a:r>
            <a:endParaRPr lang="en-US" sz="1600" dirty="0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DC6305BB-36D6-448C-9C7D-E0D84DE8F7C2}"/>
              </a:ext>
            </a:extLst>
          </p:cNvPr>
          <p:cNvSpPr txBox="1"/>
          <p:nvPr/>
        </p:nvSpPr>
        <p:spPr>
          <a:xfrm>
            <a:off x="2155614" y="25603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Добавить расход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Visual Studio и Git</a:t>
            </a:r>
            <a:endParaRPr lang="en-US" sz="3600" dirty="0"/>
          </a:p>
        </p:txBody>
      </p:sp>
      <p:sp>
        <p:nvSpPr>
          <p:cNvPr id="3" name="Возможности Visual Studio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73152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Возможности Visual Studio</a:t>
            </a:r>
            <a:endParaRPr lang="en-US" sz="2000" dirty="0"/>
          </a:p>
        </p:txBody>
      </p:sp>
      <p:sp>
        <p:nvSpPr>
          <p:cNvPr id="5" name="Список 1"/>
          <p:cNvSpPr txBox="1"/>
          <p:nvPr/>
        </p:nvSpPr>
        <p:spPr>
          <a:xfrm>
            <a:off x="731520" y="196596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Приложение создано в Visual Studio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Используется .NET Framework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Данные хранятся в Microsoft Access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Отладчик помогает находить ошибки</a:t>
            </a:r>
            <a:endParaRPr lang="en-US" sz="1600" dirty="0"/>
          </a:p>
        </p:txBody>
      </p:sp>
      <p:sp>
        <p:nvSpPr>
          <p:cNvPr id="6" name="Командная работа в Git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493776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Командная работа в Git</a:t>
            </a:r>
            <a:endParaRPr lang="en-US" sz="2000" dirty="0"/>
          </a:p>
        </p:txBody>
      </p:sp>
      <p:sp>
        <p:nvSpPr>
          <p:cNvPr id="8" name="Список 2"/>
          <p:cNvSpPr txBox="1"/>
          <p:nvPr/>
        </p:nvSpPr>
        <p:spPr>
          <a:xfrm>
            <a:off x="4937760" y="196596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Git хранит историю изменений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Коммиты показывают вклад участников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Ветки помогают работать над функциями отдельно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README содержит описание и запуск проекта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Трудности и решения</a:t>
            </a:r>
            <a:endParaRPr lang="en-US" sz="3600" dirty="0"/>
          </a:p>
        </p:txBody>
      </p:sp>
      <p:sp>
        <p:nvSpPr>
          <p:cNvPr id="3" name="Проблема 1"/>
          <p:cNvSpPr/>
          <p:nvPr/>
        </p:nvSpPr>
        <p:spPr>
          <a:xfrm>
            <a:off x="457200" y="1188720"/>
            <a:ext cx="393192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Ошибки в коде при разработке</a:t>
            </a:r>
            <a:endParaRPr lang="en-US" dirty="0"/>
          </a:p>
        </p:txBody>
      </p:sp>
      <p:sp>
        <p:nvSpPr>
          <p:cNvPr id="5" name="Стрелка 1"/>
          <p:cNvSpPr txBox="1"/>
          <p:nvPr/>
        </p:nvSpPr>
        <p:spPr>
          <a:xfrm>
            <a:off x="4434840" y="14173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2"/>
                </a:solidFill>
              </a:rPr>
              <a:t>→</a:t>
            </a:r>
            <a:endParaRPr lang="en-US" sz="2800" dirty="0"/>
          </a:p>
        </p:txBody>
      </p:sp>
      <p:sp>
        <p:nvSpPr>
          <p:cNvPr id="6" name="Решение 1"/>
          <p:cNvSpPr/>
          <p:nvPr/>
        </p:nvSpPr>
        <p:spPr>
          <a:xfrm>
            <a:off x="4846320" y="1188720"/>
            <a:ext cx="384048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7" name="Text 5"/>
          <p:cNvSpPr txBox="1"/>
          <p:nvPr/>
        </p:nvSpPr>
        <p:spPr>
          <a:xfrm>
            <a:off x="5074920" y="12801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Проверяли код в Visual Studio, находили ошибки с помощью отладчика и исправляли их</a:t>
            </a:r>
            <a:endParaRPr lang="en-US" sz="1500" dirty="0"/>
          </a:p>
        </p:txBody>
      </p:sp>
      <p:sp>
        <p:nvSpPr>
          <p:cNvPr id="8" name="Проблема 2"/>
          <p:cNvSpPr/>
          <p:nvPr/>
        </p:nvSpPr>
        <p:spPr>
          <a:xfrm>
            <a:off x="457200" y="2377440"/>
            <a:ext cx="393192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68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Не совпадала разрядность драйвера Access Database Engine и приложения (ошибка подключения к базе при запуске).</a:t>
            </a:r>
            <a:endParaRPr lang="en-US" sz="1600" dirty="0"/>
          </a:p>
        </p:txBody>
      </p:sp>
      <p:sp>
        <p:nvSpPr>
          <p:cNvPr id="10" name="Стрелка 2"/>
          <p:cNvSpPr txBox="1"/>
          <p:nvPr/>
        </p:nvSpPr>
        <p:spPr>
          <a:xfrm>
            <a:off x="4434840" y="26060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2"/>
                </a:solidFill>
              </a:rPr>
              <a:t>→</a:t>
            </a:r>
            <a:endParaRPr lang="en-US" sz="2800" dirty="0"/>
          </a:p>
        </p:txBody>
      </p:sp>
      <p:sp>
        <p:nvSpPr>
          <p:cNvPr id="11" name="Решение 2"/>
          <p:cNvSpPr/>
          <p:nvPr/>
        </p:nvSpPr>
        <p:spPr>
          <a:xfrm>
            <a:off x="4846320" y="2377440"/>
            <a:ext cx="384048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5074920" y="2468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Установили и настроили нужные 64-разрядные компоненты, чтобы приложение корректно запускалось</a:t>
            </a:r>
            <a:endParaRPr lang="en-US" sz="1500" dirty="0"/>
          </a:p>
        </p:txBody>
      </p:sp>
      <p:sp>
        <p:nvSpPr>
          <p:cNvPr id="13" name="Проблема 3"/>
          <p:cNvSpPr/>
          <p:nvPr/>
        </p:nvSpPr>
        <p:spPr>
          <a:xfrm>
            <a:off x="457200" y="3566160"/>
            <a:ext cx="393192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685800" y="3657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Конфликт слияния в главной форме: два участника одновременно правили интерфейс.</a:t>
            </a:r>
            <a:endParaRPr lang="en-US" sz="1500" dirty="0"/>
          </a:p>
        </p:txBody>
      </p:sp>
      <p:sp>
        <p:nvSpPr>
          <p:cNvPr id="15" name="Стрелка 3"/>
          <p:cNvSpPr txBox="1"/>
          <p:nvPr/>
        </p:nvSpPr>
        <p:spPr>
          <a:xfrm>
            <a:off x="4434840" y="37947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2"/>
                </a:solidFill>
              </a:rPr>
              <a:t>→</a:t>
            </a:r>
            <a:endParaRPr lang="en-US" sz="2800" dirty="0"/>
          </a:p>
        </p:txBody>
      </p:sp>
      <p:sp>
        <p:nvSpPr>
          <p:cNvPr id="16" name="Решение 3"/>
          <p:cNvSpPr/>
          <p:nvPr/>
        </p:nvSpPr>
        <p:spPr>
          <a:xfrm>
            <a:off x="4846320" y="3566160"/>
            <a:ext cx="384048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5074920" y="36576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400" b="1" dirty="0">
                <a:solidFill>
                  <a:schemeClr val="bg1"/>
                </a:solidFill>
                <a:effectLst/>
                <a:ea typeface="Times New Roman" panose="02020603050405020304" pitchFamily="18" charset="0"/>
              </a:rPr>
              <a:t>Конфликт разобрали вместе в Visual Studio, оставили обе правки; затем разделили формы между разработчиками.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Что улучшили бы</a:t>
            </a:r>
            <a:endParaRPr lang="en-US" sz="3600" dirty="0"/>
          </a:p>
        </p:txBody>
      </p:sp>
      <p:sp>
        <p:nvSpPr>
          <p:cNvPr id="3" name="Идея 1"/>
          <p:cNvSpPr/>
          <p:nvPr/>
        </p:nvSpPr>
        <p:spPr>
          <a:xfrm>
            <a:off x="45720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Номер идеи 1"/>
          <p:cNvSpPr txBox="1"/>
          <p:nvPr/>
        </p:nvSpPr>
        <p:spPr>
          <a:xfrm>
            <a:off x="685800" y="16916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37160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Добавить поиск по записям и категориям</a:t>
            </a:r>
            <a:endParaRPr lang="en-US" sz="1600" dirty="0"/>
          </a:p>
        </p:txBody>
      </p:sp>
      <p:sp>
        <p:nvSpPr>
          <p:cNvPr id="6" name="Идея 2"/>
          <p:cNvSpPr/>
          <p:nvPr/>
        </p:nvSpPr>
        <p:spPr>
          <a:xfrm>
            <a:off x="466344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Номер идеи 2"/>
          <p:cNvSpPr txBox="1"/>
          <p:nvPr/>
        </p:nvSpPr>
        <p:spPr>
          <a:xfrm>
            <a:off x="4892040" y="16916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137160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Добавить импорт данных из файла</a:t>
            </a:r>
            <a:endParaRPr lang="en-US" sz="1600" dirty="0"/>
          </a:p>
        </p:txBody>
      </p:sp>
      <p:sp>
        <p:nvSpPr>
          <p:cNvPr id="9" name="Идея 3"/>
          <p:cNvSpPr/>
          <p:nvPr/>
        </p:nvSpPr>
        <p:spPr>
          <a:xfrm>
            <a:off x="45720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Номер идеи 3"/>
          <p:cNvSpPr txBox="1"/>
          <p:nvPr/>
        </p:nvSpPr>
        <p:spPr>
          <a:xfrm>
            <a:off x="685800" y="33832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6324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Добавить повторяющиеся платежи, например за коммунальные услуги</a:t>
            </a:r>
            <a:endParaRPr lang="en-US" sz="1600" dirty="0"/>
          </a:p>
        </p:txBody>
      </p:sp>
      <p:sp>
        <p:nvSpPr>
          <p:cNvPr id="12" name="Идея 4"/>
          <p:cNvSpPr/>
          <p:nvPr/>
        </p:nvSpPr>
        <p:spPr>
          <a:xfrm>
            <a:off x="466344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Номер идеи 4"/>
          <p:cNvSpPr txBox="1"/>
          <p:nvPr/>
        </p:nvSpPr>
        <p:spPr>
          <a:xfrm>
            <a:off x="4892040" y="33832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306324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Добавить больше графиков и выгрузку отчётов в Excel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Репозиторий и документы</a:t>
            </a:r>
            <a:endParaRPr lang="en-US" sz="3600" dirty="0"/>
          </a:p>
        </p:txBody>
      </p:sp>
      <p:sp>
        <p:nvSpPr>
          <p:cNvPr id="3" name="Ссылка"/>
          <p:cNvSpPr txBox="1"/>
          <p:nvPr/>
        </p:nvSpPr>
        <p:spPr>
          <a:xfrm>
            <a:off x="457200" y="1378373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C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2400" dirty="0">
              <a:solidFill>
                <a:srgbClr val="FFC000"/>
              </a:solidFill>
            </a:endParaRPr>
          </a:p>
        </p:txBody>
      </p:sp>
      <p:sp>
        <p:nvSpPr>
          <p:cNvPr id="4" name="Документы"/>
          <p:cNvSpPr txBox="1"/>
          <p:nvPr/>
        </p:nvSpPr>
        <p:spPr>
          <a:xfrm>
            <a:off x="457200" y="21945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README.md: описание, стек, запуск, роли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ru-RU" dirty="0">
                <a:solidFill>
                  <a:schemeClr val="bg1"/>
                </a:solidFill>
              </a:rPr>
              <a:t>Д</a:t>
            </a:r>
            <a:r>
              <a:rPr lang="en-US" sz="1800" dirty="0" err="1">
                <a:solidFill>
                  <a:schemeClr val="bg1"/>
                </a:solidFill>
              </a:rPr>
              <a:t>иаграммы</a:t>
            </a:r>
            <a:r>
              <a:rPr lang="en-US" sz="1800" dirty="0">
                <a:solidFill>
                  <a:schemeClr val="bg1"/>
                </a:solidFill>
              </a:rPr>
              <a:t>, отчёт, руководство, </a:t>
            </a:r>
            <a:r>
              <a:rPr lang="en-US" sz="1800" dirty="0" err="1">
                <a:solidFill>
                  <a:schemeClr val="bg1"/>
                </a:solidFill>
              </a:rPr>
              <a:t>презентация</a:t>
            </a:r>
            <a:r>
              <a:rPr lang="ru-RU" dirty="0">
                <a:solidFill>
                  <a:schemeClr val="bg1"/>
                </a:solidFill>
              </a:rPr>
              <a:t>, рабочая программа</a:t>
            </a:r>
            <a:endParaRPr lang="en-US" sz="1800" dirty="0"/>
          </a:p>
          <a:p>
            <a:pPr>
              <a:spcAft>
                <a:spcPts val="800"/>
              </a:spcAft>
              <a:buSzPct val="100000"/>
            </a:pPr>
            <a:endParaRPr lang="en-US" sz="1800" dirty="0"/>
          </a:p>
        </p:txBody>
      </p:sp>
      <p:sp>
        <p:nvSpPr>
          <p:cNvPr id="5" name="Спасибо"/>
          <p:cNvSpPr txBox="1"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</a:rPr>
              <a:t>Спасибо за внимание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milyBudget">
  <a:themeElements>
    <a:clrScheme name="FamilyBudget">
      <a:dk1>
        <a:srgbClr val="17252B"/>
      </a:dk1>
      <a:lt1>
        <a:srgbClr val="FFFFFF"/>
      </a:lt1>
      <a:dk2>
        <a:srgbClr val="0E4D64"/>
      </a:dk2>
      <a:lt2>
        <a:srgbClr val="E8F1F2"/>
      </a:lt2>
      <a:accent1>
        <a:srgbClr val="0E4D64"/>
      </a:accent1>
      <a:accent2>
        <a:srgbClr val="F2A541"/>
      </a:accent2>
      <a:accent3>
        <a:srgbClr val="2E86AB"/>
      </a:accent3>
      <a:accent4>
        <a:srgbClr val="7FB069"/>
      </a:accent4>
      <a:accent5>
        <a:srgbClr val="D1495B"/>
      </a:accent5>
      <a:accent6>
        <a:srgbClr val="6C757D"/>
      </a:accent6>
      <a:hlink>
        <a:srgbClr val="2E86AB"/>
      </a:hlink>
      <a:folHlink>
        <a:srgbClr val="6C757D"/>
      </a:folHlink>
    </a:clrScheme>
    <a:fontScheme name="FamilyBudge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729</Words>
  <Application>Microsoft Office PowerPoint</Application>
  <PresentationFormat>Экран (16:9)</PresentationFormat>
  <Paragraphs>121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Cambria</vt:lpstr>
      <vt:lpstr>Times New Roman</vt:lpstr>
      <vt:lpstr>FamilyBudget</vt:lpstr>
      <vt:lpstr>Учёт расходов семьи</vt:lpstr>
      <vt:lpstr>Команда и роли</vt:lpstr>
      <vt:lpstr>Проблема и цель</vt:lpstr>
      <vt:lpstr>Варианты использования</vt:lpstr>
      <vt:lpstr>Модель данных (ER)</vt:lpstr>
      <vt:lpstr>Архитектура и классы</vt:lpstr>
      <vt:lpstr>Добавление операции</vt:lpstr>
      <vt:lpstr>Живая демонстрация</vt:lpstr>
      <vt:lpstr>Visual Studio и Git</vt:lpstr>
      <vt:lpstr>Трудности и решения</vt:lpstr>
      <vt:lpstr>Что улучшили бы</vt:lpstr>
      <vt:lpstr>Репозиторий и документы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Учёт расходов семьи</dc:title>
  <dc:subject>PptxGenJS Presentation</dc:subject>
  <dc:creator>PptxGenJS</dc:creator>
  <cp:lastModifiedBy>romanrusskih2722@gmail.com</cp:lastModifiedBy>
  <cp:revision>15</cp:revision>
  <dcterms:created xsi:type="dcterms:W3CDTF">2026-10-21T08:29:45Z</dcterms:created>
  <dcterms:modified xsi:type="dcterms:W3CDTF">2026-10-23T09:30:59Z</dcterms:modified>
</cp:coreProperties>
</file>